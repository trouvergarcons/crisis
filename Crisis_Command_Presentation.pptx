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926080" cy="347472"/>
          </a:xfrm>
          <a:prstGeom prst="roundRect">
            <a:avLst/>
          </a:prstGeom>
          <a:solidFill>
            <a:srgbClr val="DC2626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CRISIS COMMAND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Multi-Agent Emergency Response &amp;</a:t>
            </a:r>
            <a:br/>
            <a:r>
              <a:t>Resource Coordination Agent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Problem Statement: Autonomous cross-agency coordination, deterministic prioritization &amp; dynamic replanning for simultaneous catastrophic disasters.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548640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TEAM PROFILE // EPIX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Team Members &amp; Specializations</a:t>
            </a:r>
          </a:p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• DIVYANSHU YADAV [25MCA00PY0036] — Team Leader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LangGraph architecture, orchestration, dynamic replanning engine.</a:t>
            </a:r>
          </a:p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• SANDEEP KUMAR [25MCA00PY0037] — Research &amp; Documentation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FEMA NIMS ICS-201 alignment, multi-hazard disaster threat modeling.</a:t>
            </a:r>
          </a:p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• SUGANYA S [25MCA00PY0016] — Backend Engineering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FastAPI async services, deterministic priority math, REST APIs &amp; Docker.</a:t>
            </a:r>
          </a:p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• VIKRAM KUMAR MODI [26MCA00PY0016] — Frontend &amp; 3D UI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Three.js WebGL globe, Leaflet GIS vectors, audio dispatch &amp; radio console.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468880"/>
            <a:ext cx="493776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EXECUTIVE MISSION &amp; SCOPE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Autonomous Disaster Grid</a:t>
            </a:r>
          </a:p>
          <a:p/>
          <a:p>
            <a:pPr>
              <a:defRPr sz="1200" b="1">
                <a:solidFill>
                  <a:srgbClr val="F87171"/>
                </a:solidFill>
              </a:defRPr>
            </a:pPr>
            <a:r>
              <a:t>✔ Multi-Incident Situational Triage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 Real-time assessment of concurrent simultaneous crises (Collapses, Fires, Floods, Chemical Disasters) without cognitive lag.</a:t>
            </a:r>
          </a:p>
          <a:p/>
          <a:p>
            <a:pPr>
              <a:defRPr sz="1200" b="1">
                <a:solidFill>
                  <a:srgbClr val="F87171"/>
                </a:solidFill>
              </a:defRPr>
            </a:pPr>
            <a:r>
              <a:t>✔ Deterministic Cross-Agency Dispatch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 Autonomous coordination of limited ambulances, fire trucks, rescue teams, and police units based on verifiable life-safety scores.</a:t>
            </a:r>
          </a:p>
          <a:p/>
          <a:p>
            <a:pPr>
              <a:defRPr sz="1200" b="1">
                <a:solidFill>
                  <a:srgbClr val="F87171"/>
                </a:solidFill>
              </a:defRPr>
            </a:pPr>
            <a:r>
              <a:t>✔ Adaptive Replanning On-The-Fly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 Dynamic preemption of units when critical new emergencies strike or apparatus fail, with complete human-in-the-loop oversight.</a:t>
            </a:r>
          </a:p>
          <a:p/>
          <a:p>
            <a:pPr>
              <a:defRPr sz="1200" b="1">
                <a:solidFill>
                  <a:srgbClr val="F87171"/>
                </a:solidFill>
              </a:defRPr>
            </a:pPr>
            <a:r>
              <a:t>✔ Standardized Interoperability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 Direct FEMA Form ICS-201 compliance, tactical GIS telemetry, and natural language radio command.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SYSTEM DESIGN // AGENTIC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Approach &amp; Architecture: Multi-Agent LangGraph 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1. MULTI-AGENT PIPELINE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Specialized LangGraph Agents</a:t>
            </a:r>
          </a:p>
          <a:p/>
          <a:p>
            <a:pPr>
              <a:defRPr sz="1100" b="1">
                <a:solidFill>
                  <a:srgbClr val="38BDF8"/>
                </a:solidFill>
              </a:defRPr>
            </a:pPr>
            <a:r>
              <a:t>Triage &amp; Assessment Agent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Ingests 911 telemetry. Evaluates Severity (1-10), Urgency (1-10), population density, and casualty risks.</a:t>
            </a:r>
          </a:p>
          <a:p/>
          <a:p>
            <a:pPr>
              <a:defRPr sz="1100" b="1">
                <a:solidFill>
                  <a:srgbClr val="38BDF8"/>
                </a:solidFill>
              </a:defRPr>
            </a:pPr>
            <a:r>
              <a:t>Priority Scoring Engine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Mathematically computes priority score:</a:t>
            </a:r>
            <a:br/>
            <a:r>
              <a:t>Score = 0.4*Severity + 0.3*Urgency + 0.3*CasualtyRisk (Zero hallucination).</a:t>
            </a:r>
          </a:p>
          <a:p/>
          <a:p>
            <a:pPr>
              <a:defRPr sz="1100" b="1">
                <a:solidFill>
                  <a:srgbClr val="38BDF8"/>
                </a:solidFill>
              </a:defRPr>
            </a:pPr>
            <a:r>
              <a:t>Resource Allocation Agent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Coordinates across Fire, EMS, Rescue, and Police. Solves greedy constraint matching for scarce field units.</a:t>
            </a:r>
          </a:p>
          <a:p/>
          <a:p>
            <a:pPr>
              <a:defRPr sz="1100" b="1">
                <a:solidFill>
                  <a:srgbClr val="38BDF8"/>
                </a:solidFill>
              </a:defRPr>
            </a:pPr>
            <a:r>
              <a:t>Incident Action Plan Agent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Synthesizes operational briefings and assigns tactical operational periods.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2. DYNAMIC REPLANNING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Adaptive State Cycles</a:t>
            </a:r>
          </a:p>
          <a:p/>
          <a:p>
            <a:pPr>
              <a:defRPr sz="1100" b="1">
                <a:solidFill>
                  <a:srgbClr val="F87171"/>
                </a:solidFill>
              </a:defRPr>
            </a:pPr>
            <a:r>
              <a:t>Shock Event Trigger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LangGraph cyclic state graph detects new critical crises or apparatus breakdowns in real time.</a:t>
            </a:r>
          </a:p>
          <a:p/>
          <a:p>
            <a:pPr>
              <a:defRPr sz="1100" b="1">
                <a:solidFill>
                  <a:srgbClr val="F87171"/>
                </a:solidFill>
              </a:defRPr>
            </a:pPr>
            <a:r>
              <a:t>Deterministic Preemption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Calculates priority delta. Automatically reassigns units from lower-priority contained incidents to save lives in critical sectors.</a:t>
            </a:r>
          </a:p>
          <a:p/>
          <a:p>
            <a:pPr>
              <a:defRPr sz="1100" b="1">
                <a:solidFill>
                  <a:srgbClr val="F87171"/>
                </a:solidFill>
              </a:defRPr>
            </a:pPr>
            <a:r>
              <a:t>Before vs After Audit Trail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Records explicit tactical justification for every preemption (e.g. Unit AMB-02 reassigned to Mass Casualty).</a:t>
            </a:r>
          </a:p>
          <a:p/>
          <a:p>
            <a:pPr>
              <a:defRPr sz="1100" b="1">
                <a:solidFill>
                  <a:srgbClr val="F87171"/>
                </a:solidFill>
              </a:defRPr>
            </a:pPr>
            <a:r>
              <a:t>Surplus Resource Release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When an incident resolves, freed units are instantly returned to available reserve pools.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3. HUMAN GOVERNANCE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Commander Safeguards</a:t>
            </a:r>
          </a:p>
          <a:p/>
          <a:p>
            <a:pPr>
              <a:defRPr sz="1100" b="1">
                <a:solidFill>
                  <a:srgbClr val="34D399"/>
                </a:solidFill>
              </a:defRPr>
            </a:pPr>
            <a:r>
              <a:t>Human Approval Gate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Autonomous execution pauses whenever preemption impacts high-casualty sectors (Score &gt; 85.0).</a:t>
            </a:r>
          </a:p>
          <a:p/>
          <a:p>
            <a:pPr>
              <a:defRPr sz="1100" b="1">
                <a:solidFill>
                  <a:srgbClr val="34D399"/>
                </a:solidFill>
              </a:defRPr>
            </a:pPr>
            <a:r>
              <a:t>Instant Visual Controls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Commander receives high-visibility Replanning Banner with Approve, Reject, or Review actions.</a:t>
            </a:r>
          </a:p>
          <a:p/>
          <a:p>
            <a:pPr>
              <a:defRPr sz="1100" b="1">
                <a:solidFill>
                  <a:srgbClr val="34D399"/>
                </a:solidFill>
              </a:defRPr>
            </a:pPr>
            <a:r>
              <a:t>Deterministic Fallback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If external LLM APIs fail or lose connectivity, the deterministic mathematical core runs uninterrupted.</a:t>
            </a:r>
          </a:p>
          <a:p/>
          <a:p>
            <a:pPr>
              <a:defRPr sz="1100" b="1">
                <a:solidFill>
                  <a:srgbClr val="34D399"/>
                </a:solidFill>
              </a:defRPr>
            </a:pPr>
            <a:r>
              <a:t>FEMA ICS-201 Alignment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Adheres to National Incident Management System (NIMS) operational reporting guidelines.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PLATFORM CAPABILITIES // LIVE DEMO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Functionalities &amp; Immersive Command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0F17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900" b="1">
                <a:solidFill>
                  <a:srgbClr val="0EA5E9"/>
                </a:solidFill>
              </a:defRPr>
            </a:pPr>
            <a:r>
              <a:t>SPATIAL COMMAND &amp; BIOMETRICS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3D WebGL Globe &amp; Cinematic Warp Entry</a:t>
            </a:r>
          </a:p>
          <a:p/>
          <a:p>
            <a:pPr>
              <a:defRPr sz="1000">
                <a:solidFill>
                  <a:srgbClr val="CBD5E1"/>
                </a:solidFill>
              </a:defRPr>
            </a:pPr>
            <a:r>
              <a:t>• Continuous 3D spatial particle globe built with Three.js rendering active disaster coordinates.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Single-ID instant login (CMD-101, FIRE-01, MED-01) with zero password friction.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Cinematic 3D camera warp transition diving through the defense grid upon authentication.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REAL-TIME LOGISTICS &amp; TELEMETRY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Leaflet GIS &amp; Animated Vector Corridors</a:t>
            </a:r>
          </a:p>
          <a:p/>
          <a:p>
            <a:pPr>
              <a:defRPr sz="1000">
                <a:solidFill>
                  <a:srgbClr val="CBD5E1"/>
                </a:solidFill>
              </a:defRPr>
            </a:pPr>
            <a:r>
              <a:t>• Watermark-free tactical situational map utilizing Esri World Dark Gray Base &amp; OpenStreetMap.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Dynamic animated SVG dashed polyline trajectories illustrating active apparatus dispatches.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Real-time geodesic distance calculations (km) and Estimated Time of Arrival (ETA in minutes).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33172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VOICE &amp; TACTICAL INTERACTION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Natural Language AI Radio Transceiver</a:t>
            </a:r>
          </a:p>
          <a:p/>
          <a:p>
            <a:pPr>
              <a:defRPr sz="1000">
                <a:solidFill>
                  <a:srgbClr val="CBD5E1"/>
                </a:solidFill>
              </a:defRPr>
            </a:pPr>
            <a:r>
              <a:t>• Hands-free AI radio console parsing spoken/typed orders ('Casualty status', 'Replan all sectors').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Synthesized voice dispatch readouts announcing tactical shift orders to field units.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Web Audio API dual-frequency tactical chimes and urgent warning siren tones.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331720"/>
          </a:xfrm>
          <a:prstGeom prst="roundRect">
            <a:avLst/>
          </a:prstGeom>
          <a:solidFill>
            <a:srgbClr val="0F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STANDARDS &amp; CHAOS ENGINEERING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Multi-Hazard Chaos Engine &amp; FEMA ICS-201</a:t>
            </a:r>
          </a:p>
          <a:p/>
          <a:p>
            <a:pPr>
              <a:defRPr sz="1000">
                <a:solidFill>
                  <a:srgbClr val="CBD5E1"/>
                </a:solidFill>
              </a:defRPr>
            </a:pPr>
            <a:r>
              <a:t>• Disaster injection drawer: 7.1 Earthquake, Flash Flood, Wildfire, Grid Blackout, Chemical Blast.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Department Commander consoles (Fire, Medical, Rescue, Police) with unit status toggling.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Instant FEMA Form ICS-201 Incident Action Plan generator with 1-click Print/PDF &amp; Markdown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EXECUTION &amp; RESILIENCE // FIELD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Engineering Challenges Overcome &amp; Production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KEY CHALLENGES OVERCOME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Technical Roadblocks &amp; Engineering Fixes</a:t>
            </a:r>
          </a:p>
          <a:p/>
          <a:p>
            <a:pPr>
              <a:defRPr sz="1200" b="1">
                <a:solidFill>
                  <a:srgbClr val="FBBF24"/>
                </a:solidFill>
              </a:defRPr>
            </a:pPr>
            <a:r>
              <a:t>1. LLM Hallucinations in Life-Safety Allocation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Problem: Pure generative LLMs produced unpredictable, non-deterministic apparatus routing.</a:t>
            </a:r>
            <a:br/>
            <a:r>
              <a:t>Solution: Engineered a hybrid architecture: LangGraph models the decision workflow, but all resource allocations execute through a deterministic multi-factor mathematical scoring engine.</a:t>
            </a:r>
          </a:p>
          <a:p/>
          <a:p>
            <a:pPr>
              <a:defRPr sz="1200" b="1">
                <a:solidFill>
                  <a:srgbClr val="FBBF24"/>
                </a:solidFill>
              </a:defRPr>
            </a:pPr>
            <a:r>
              <a:t>2. Real-Time State Lag &amp; Approval Banner Stalling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Problem: React state re-renders and polling caused the Replanning Banner to linger even after user approval.</a:t>
            </a:r>
            <a:br/>
            <a:r>
              <a:t>Solution: Added optimistic instant local state dismissal ('isDismissed = true') synchronized with atomic backend cache purging and smart event-tracking ('lastSeenEventId').</a:t>
            </a:r>
          </a:p>
          <a:p/>
          <a:p>
            <a:pPr>
              <a:defRPr sz="1200" b="1">
                <a:solidFill>
                  <a:srgbClr val="FBBF24"/>
                </a:solidFill>
              </a:defRPr>
            </a:pPr>
            <a:r>
              <a:t>3. GIS Tile Restrictions &amp; Cross-Origin (CORS) Blocks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Problem: CartoDB basemaps added 'API KEY REQUIRED' watermarks; Vercel &amp; Render had CORS preflights.</a:t>
            </a:r>
            <a:br/>
            <a:r>
              <a:t>Solution: Migrated to zero-key Esri World Dark Gray &amp; OpenStreetMap tiles; added permissive regex-based CORS middleware allowing multi-cloud deployments seamlessly.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463040"/>
            <a:ext cx="475488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VERIFIED IMPACT &amp; TECH STACK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Field Readiness &amp; Architecture</a:t>
            </a:r>
          </a:p>
          <a:p/>
          <a:p>
            <a:pPr>
              <a:defRPr sz="1200" b="1">
                <a:solidFill>
                  <a:srgbClr val="34D399"/>
                </a:solidFill>
              </a:defRPr>
            </a:pPr>
            <a:r>
              <a:t>⚡ ~85% Latency Reduction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Cross-agency allocation completes in under 200ms vs 15+ minutes of manual radio dispatching.</a:t>
            </a:r>
          </a:p>
          <a:p/>
          <a:p>
            <a:pPr>
              <a:defRPr sz="1200" b="1">
                <a:solidFill>
                  <a:srgbClr val="34D399"/>
                </a:solidFill>
              </a:defRPr>
            </a:pPr>
            <a:r>
              <a:t>🛡️ 100% Explainable Audits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Every preemption logs explicit 'Before vs After' and causal reasons for transparency.</a:t>
            </a:r>
          </a:p>
          <a:p/>
          <a:p>
            <a:pPr>
              <a:defRPr sz="1200" b="1">
                <a:solidFill>
                  <a:srgbClr val="34D399"/>
                </a:solidFill>
              </a:defRPr>
            </a:pPr>
            <a:r>
              <a:t>🌐 Multi-Cloud Production Ready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Live on Vercel (Frontend), Dockerized single-container FastAPI (Backend), zero-downtime test suite.</a:t>
            </a:r>
          </a:p>
          <a:p/>
          <a:p>
            <a:pPr>
              <a:defRPr sz="1200" b="1">
                <a:solidFill>
                  <a:srgbClr val="34D399"/>
                </a:solidFill>
              </a:defRPr>
            </a:pPr>
            <a:r>
              <a:t>💻 Technology Stack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LangGraph, Python 3.11, FastAPI, React 19, TypeScript, Tailwind CSS v4, Three.js WebGL, Leaflet GIS, Docker.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
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914400"/>
            <a:ext cx="3291840" cy="365760"/>
          </a:xfrm>
          <a:prstGeom prst="roundRect">
            <a:avLst/>
          </a:prstGeom>
          <a:solidFill>
            <a:srgbClr val="DC2626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CRISIS COMMAND AI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Multi-Agent Emergency Response &amp;</a:t>
            </a:r>
            <a:br/>
            <a:r>
              <a:t>Autonomous Resource Coordination</a:t>
            </a:r>
          </a:p>
          <a:p>
            <a:pPr>
              <a:defRPr sz="1500">
                <a:solidFill>
                  <a:srgbClr val="0EA5E9"/>
                </a:solidFill>
              </a:defRPr>
            </a:pPr>
            <a:r>
              <a:t>Next-Generation LangGraph StateGraph Architecture with Deterministic Triage &amp; Dynamic Replanning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91840"/>
            <a:ext cx="3383280" cy="2926080"/>
          </a:xfrm>
          <a:prstGeom prst="roundRect">
            <a:avLst/>
          </a:prstGeom>
          <a:solidFill>
            <a:srgbClr val="111827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EF4444"/>
                </a:solidFill>
              </a:defRPr>
            </a:pPr>
            <a:r>
              <a:t>THE CORE PROBLEM</a:t>
            </a:r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t>Disaster Grid Overload</a:t>
            </a:r>
          </a:p>
          <a:p/>
          <a:p>
            <a:pPr>
              <a:defRPr sz="1200">
                <a:solidFill>
                  <a:srgbClr val="CBD5E1"/>
                </a:solidFill>
              </a:defRPr>
            </a:pPr>
            <a:r>
              <a:t>• Simultaneous multi-hazard emergencies overwhelm human dispatch centers.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• Inter-agency coordination silos delay medical, fire, and rescue mobilization.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• Resource failures trigger chaotic, uncoordinated manual reallocation.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3291840"/>
            <a:ext cx="3383280" cy="2926080"/>
          </a:xfrm>
          <a:prstGeom prst="roundRect">
            <a:avLst/>
          </a:prstGeom>
          <a:solidFill>
            <a:srgbClr val="111827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OUR SOLUTION</a:t>
            </a:r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t>Agentic StateGraph Engine</a:t>
            </a:r>
          </a:p>
          <a:p/>
          <a:p>
            <a:pPr>
              <a:defRPr sz="1200">
                <a:solidFill>
                  <a:srgbClr val="CBD5E1"/>
                </a:solidFill>
              </a:defRPr>
            </a:pPr>
            <a:r>
              <a:t>• Multi-agent LangGraph orchestration with sub-second assessment triage.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• Multi-factor deterministic priority scoring (Severity, Urgency, Casualties).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• Optimal greedy resource allocation with dynamic tactical preemption.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3291840"/>
            <a:ext cx="3383280" cy="2926080"/>
          </a:xfrm>
          <a:prstGeom prst="roundRect">
            <a:avLst/>
          </a:prstGeom>
          <a:solidFill>
            <a:srgbClr val="111827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HUMAN GOVERNANCE</a:t>
            </a:r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t>Commander Safeguards</a:t>
            </a:r>
          </a:p>
          <a:p/>
          <a:p>
            <a:pPr>
              <a:defRPr sz="1200">
                <a:solidFill>
                  <a:srgbClr val="CBD5E1"/>
                </a:solidFill>
              </a:defRPr>
            </a:pPr>
            <a:r>
              <a:t>• Human-in-the-Loop decision gates for critical reallocations (&gt;85 score).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• Auditable 'Before vs After' tactical shifts with FEMA ICS-201 plan export.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• Natural language AI tactical radio with Web Audio synthesized dispatch.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CORE ARCHITECTURE // MULTI-AGENT STATE MACHINE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System Architecture: LangGraph StateGraph &amp; Decision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846320"/>
          </a:xfrm>
          <a:prstGeom prst="roundRect">
            <a:avLst/>
          </a:prstGeom>
          <a:solidFill>
            <a:srgbClr val="111827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SPECIALIZED AGENT PIPELINE</a:t>
            </a:r>
          </a:p>
          <a:p>
            <a:pPr>
              <a:defRPr sz="1800" b="1">
                <a:solidFill>
                  <a:srgbClr val="F8FAFC"/>
                </a:solidFill>
              </a:defRPr>
            </a:pPr>
            <a:r>
              <a:t>LangGraph Cyclic State Machine</a:t>
            </a:r>
          </a:p>
          <a:p/>
          <a:p>
            <a:pPr>
              <a:defRPr sz="1300" b="1">
                <a:solidFill>
                  <a:srgbClr val="38BDF8"/>
                </a:solidFill>
              </a:defRPr>
            </a:pPr>
            <a:r>
              <a:t>1. Triage &amp; Assessment Agent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Ingests 911 telemetry, evaluates severity (1-10), urgency (1-10), and potential casualties.</a:t>
            </a:r>
          </a:p>
          <a:p/>
          <a:p>
            <a:pPr>
              <a:defRPr sz="1300" b="1">
                <a:solidFill>
                  <a:srgbClr val="38BDF8"/>
                </a:solidFill>
              </a:defRPr>
            </a:pPr>
            <a:r>
              <a:t>2. Deterministic Priority Engine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Calculates priority score using multi-factor formula: Score = 0.4*Severity + 0.3*Urgency + 0.3*CasualtyRisk.</a:t>
            </a:r>
          </a:p>
          <a:p/>
          <a:p>
            <a:pPr>
              <a:defRPr sz="1300" b="1">
                <a:solidFill>
                  <a:srgbClr val="38BDF8"/>
                </a:solidFill>
              </a:defRPr>
            </a:pPr>
            <a:r>
              <a:t>3. Cross-Agency Allocation Agent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Coordinates across Fire, EMS, Rescue, and Police. Solves greedy constraint matching for scarce units.</a:t>
            </a:r>
          </a:p>
          <a:p/>
          <a:p>
            <a:pPr>
              <a:defRPr sz="1300" b="1">
                <a:solidFill>
                  <a:srgbClr val="38BDF8"/>
                </a:solidFill>
              </a:defRPr>
            </a:pPr>
            <a:r>
              <a:t>4. Incident Action Plan Agent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Generates structured operational briefing, assigning mission objectives and estimated response arrival.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846320"/>
          </a:xfrm>
          <a:prstGeom prst="roundRect">
            <a:avLst/>
          </a:prstGeom>
          <a:solidFill>
            <a:srgbClr val="111827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100" b="1">
                <a:solidFill>
                  <a:srgbClr val="EF4444"/>
                </a:solidFill>
              </a:defRPr>
            </a:pPr>
            <a:r>
              <a:t>DYNAMIC REPLANNING &amp; SAFETY GATES</a:t>
            </a:r>
          </a:p>
          <a:p>
            <a:pPr>
              <a:defRPr sz="1800" b="1">
                <a:solidFill>
                  <a:srgbClr val="F8FAFC"/>
                </a:solidFill>
              </a:defRPr>
            </a:pPr>
            <a:r>
              <a:t>Tactical Preemption &amp; Governance</a:t>
            </a:r>
          </a:p>
          <a:p/>
          <a:p>
            <a:pPr>
              <a:defRPr sz="1300" b="1">
                <a:solidFill>
                  <a:srgbClr val="F87171"/>
                </a:solidFill>
              </a:defRPr>
            </a:pPr>
            <a:r>
              <a:t>⚡ Sudden Shock Injection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Triggered by incoming catastrophic disasters (e.g. Chemical Explosion) or apparatus mechanical failures.</a:t>
            </a:r>
          </a:p>
          <a:p/>
          <a:p>
            <a:pPr>
              <a:defRPr sz="1300" b="1">
                <a:solidFill>
                  <a:srgbClr val="F87171"/>
                </a:solidFill>
              </a:defRPr>
            </a:pPr>
            <a:r>
              <a:t>🔄 Priority-Driven Preemption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Automatically preempts units from lower-priority contained incidents and redirects them to save critical lives.</a:t>
            </a:r>
          </a:p>
          <a:p/>
          <a:p>
            <a:pPr>
              <a:defRPr sz="1300" b="1">
                <a:solidFill>
                  <a:srgbClr val="F87171"/>
                </a:solidFill>
              </a:defRPr>
            </a:pPr>
            <a:r>
              <a:t>🛡️ Human Approval Gate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If preemptions affect high-casualty sectors, the system halts autonomous commit and alerts the Commander.</a:t>
            </a:r>
          </a:p>
          <a:p/>
          <a:p>
            <a:pPr>
              <a:defRPr sz="1300" b="1">
                <a:solidFill>
                  <a:srgbClr val="F87171"/>
                </a:solidFill>
              </a:defRPr>
            </a:pPr>
            <a:r>
              <a:t>📝 Explainable Audit Trail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Displays instant 'Before vs After' differences explaining exactly WHY each resource was redirected.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OPERATIONAL CAPABILITIES // LIVE DEMO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Key Innovations &amp; Command Center Experience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331720"/>
          </a:xfrm>
          <a:prstGeom prst="roundRect">
            <a:avLst/>
          </a:prstGeom>
          <a:solidFill>
            <a:srgbClr val="111827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900" b="1">
                <a:solidFill>
                  <a:srgbClr val="0EA5E9"/>
                </a:solidFill>
              </a:defRPr>
            </a:pPr>
            <a:r>
              <a:t>IMMERSIVE SPATIAL COMMAND</a:t>
            </a:r>
          </a:p>
          <a:p>
            <a:pPr>
              <a:defRPr sz="1500" b="1">
                <a:solidFill>
                  <a:srgbClr val="F8FAFC"/>
                </a:solidFill>
              </a:defRPr>
            </a:pPr>
            <a:r>
              <a:t>3D WebGL Globe &amp; Cinematic Warp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Built with Three.js. Provides a global spatial perspective before and after authentication. Features zero-password instant ID login with a cinematic camera dive warp effect into the tactical grid.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2331720"/>
          </a:xfrm>
          <a:prstGeom prst="roundRect">
            <a:avLst/>
          </a:prstGeom>
          <a:solidFill>
            <a:srgbClr val="111827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900" b="1">
                <a:solidFill>
                  <a:srgbClr val="10B981"/>
                </a:solidFill>
              </a:defRPr>
            </a:pPr>
            <a:r>
              <a:t>REAL-TIME LOGISTICS</a:t>
            </a:r>
          </a:p>
          <a:p>
            <a:pPr>
              <a:defRPr sz="1500" b="1">
                <a:solidFill>
                  <a:srgbClr val="F8FAFC"/>
                </a:solidFill>
              </a:defRPr>
            </a:pPr>
            <a:r>
              <a:t>Leaflet GIS &amp; Animated Vector Corridors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Watermark-free dark situational mapping. Dynamic dashed polylines show live apparatus trajectories with real-time geodesic distance calculations (km) and estimated time of arrival (ETA in minutes).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212080" cy="2331720"/>
          </a:xfrm>
          <a:prstGeom prst="roundRect">
            <a:avLst/>
          </a:prstGeom>
          <a:solidFill>
            <a:srgbClr val="111827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900" b="1">
                <a:solidFill>
                  <a:srgbClr val="F59E0B"/>
                </a:solidFill>
              </a:defRPr>
            </a:pPr>
            <a:r>
              <a:t>VOICE &amp; TACTICAL INTERACTION</a:t>
            </a:r>
          </a:p>
          <a:p>
            <a:pPr>
              <a:defRPr sz="1500" b="1">
                <a:solidFill>
                  <a:srgbClr val="F8FAFC"/>
                </a:solidFill>
              </a:defRPr>
            </a:pPr>
            <a:r>
              <a:t>Natural Language AI Radio Transceiver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Transceiver bar parses natural language speech/text orders ('Casualty update', 'Replan all sectors'). Executes agent actions with synthetic Web Audio chimes and SpeechSynthesis vocal dispatch.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2331720"/>
          </a:xfrm>
          <a:prstGeom prst="roundRect">
            <a:avLst/>
          </a:prstGeom>
          <a:solidFill>
            <a:srgbClr val="111827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900" b="1">
                <a:solidFill>
                  <a:srgbClr val="EF4444"/>
                </a:solidFill>
              </a:defRPr>
            </a:pPr>
            <a:r>
              <a:t>STANDARDS COMPLIANCE</a:t>
            </a:r>
          </a:p>
          <a:p>
            <a:pPr>
              <a:defRPr sz="1500" b="1">
                <a:solidFill>
                  <a:srgbClr val="F8FAFC"/>
                </a:solidFill>
              </a:defRPr>
            </a:pPr>
            <a:r>
              <a:t>Multi-Hazard Simulator &amp; FEMA ICS-201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Live crisis drawer injects 7.1 Earthquakes, Flash Floods, Wildfires, Blackouts, and Chemical Blasts. Auto-generates full FEMA ICS-201 Incident Action Plans ready for instant Print/PDF and Markdown download.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VALUE CREATION // PRODUCTION READY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Operational Impact, Verification &amp; 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4114800" cy="4846320"/>
          </a:xfrm>
          <a:prstGeom prst="roundRect">
            <a:avLst/>
          </a:prstGeom>
          <a:solidFill>
            <a:srgbClr val="111827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PROVEN OPERATIONAL METRICS</a:t>
            </a:r>
          </a:p>
          <a:p>
            <a:pPr>
              <a:defRPr sz="1800" b="1">
                <a:solidFill>
                  <a:srgbClr val="F8FAFC"/>
                </a:solidFill>
              </a:defRPr>
            </a:pPr>
            <a:r>
              <a:t>Demonstrated Impact</a:t>
            </a:r>
          </a:p>
          <a:p/>
          <a:p>
            <a:pPr>
              <a:defRPr sz="1400" b="1">
                <a:solidFill>
                  <a:srgbClr val="10B981"/>
                </a:solidFill>
              </a:defRPr>
            </a:pPr>
            <a:r>
              <a:t>~85% Faster Dispatch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Reduces inter-agency triage and coordination latency from 15+ minutes to milliseconds.</a:t>
            </a:r>
          </a:p>
          <a:p/>
          <a:p>
            <a:pPr>
              <a:defRPr sz="1400" b="1">
                <a:solidFill>
                  <a:srgbClr val="10B981"/>
                </a:solidFill>
              </a:defRPr>
            </a:pPr>
            <a:r>
              <a:t>100% Explainability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Deterministic algorithmic rationale for every unit reallocated—eliminating hallucination risks.</a:t>
            </a:r>
          </a:p>
          <a:p/>
          <a:p>
            <a:pPr>
              <a:defRPr sz="1400" b="1">
                <a:solidFill>
                  <a:srgbClr val="10B981"/>
                </a:solidFill>
              </a:defRPr>
            </a:pPr>
            <a:r>
              <a:t>Zero Downtime Replanning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Instant state re-evaluation on apparatus failure or secondary disaster shock waves.</a:t>
            </a:r>
          </a:p>
          <a:p/>
          <a:p>
            <a:pPr>
              <a:defRPr sz="1400" b="1">
                <a:solidFill>
                  <a:srgbClr val="10B981"/>
                </a:solidFill>
              </a:defRPr>
            </a:pPr>
            <a:r>
              <a:t>FEMA Standard Aligned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Adheres to National Incident Management System (NIMS) ICS-201 command briefs.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554480"/>
            <a:ext cx="6309360" cy="4846320"/>
          </a:xfrm>
          <a:prstGeom prst="roundRect">
            <a:avLst/>
          </a:prstGeom>
          <a:solidFill>
            <a:srgbClr val="111827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FULL-STACK PRODUCTION ARCHITECTURE</a:t>
            </a:r>
          </a:p>
          <a:p>
            <a:pPr>
              <a:defRPr sz="1800" b="1">
                <a:solidFill>
                  <a:srgbClr val="F8FAFC"/>
                </a:solidFill>
              </a:defRPr>
            </a:pPr>
            <a:r>
              <a:t>Engineered for Resilient Deployment</a:t>
            </a:r>
          </a:p>
          <a:p/>
          <a:p>
            <a:pPr>
              <a:defRPr sz="1300" b="1">
                <a:solidFill>
                  <a:srgbClr val="38BDF8"/>
                </a:solidFill>
              </a:defRPr>
            </a:pPr>
            <a:r>
              <a:t>AI &amp; Decision Core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LangGraph StateGraph, LangChain, Pydantic v2, Python 3.11, Deterministic Multi-Factor Math Engine.</a:t>
            </a:r>
          </a:p>
          <a:p/>
          <a:p>
            <a:pPr>
              <a:defRPr sz="1300" b="1">
                <a:solidFill>
                  <a:srgbClr val="38BDF8"/>
                </a:solidFill>
              </a:defRPr>
            </a:pPr>
            <a:r>
              <a:t>Backend &amp; Services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FastAPI (Asynchronous REST API, SSE streaming ready), Uvicorn, Automated Pytest validation suite.</a:t>
            </a:r>
          </a:p>
          <a:p/>
          <a:p>
            <a:pPr>
              <a:defRPr sz="1300" b="1">
                <a:solidFill>
                  <a:srgbClr val="38BDF8"/>
                </a:solidFill>
              </a:defRPr>
            </a:pPr>
            <a:r>
              <a:t>Frontend UI &amp; GIS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React 19, TypeScript, Tailwind CSS v4, Lucide Icons, Leaflet GIS with Esri Dark Canvas tiles.</a:t>
            </a:r>
          </a:p>
          <a:p/>
          <a:p>
            <a:pPr>
              <a:defRPr sz="1300" b="1">
                <a:solidFill>
                  <a:srgbClr val="38BDF8"/>
                </a:solidFill>
              </a:defRPr>
            </a:pPr>
            <a:r>
              <a:t>3D Graphics &amp; Audio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Three.js WebGL (Interactive Particle Globe &amp; Camera Warp), Web Audio API, SpeechSynthesis dispatch.</a:t>
            </a:r>
          </a:p>
          <a:p/>
          <a:p>
            <a:pPr>
              <a:defRPr sz="1300" b="1">
                <a:solidFill>
                  <a:srgbClr val="38BDF8"/>
                </a:solidFill>
              </a:defRPr>
            </a:pPr>
            <a:r>
              <a:t>DevOps &amp; Deployment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Docker multi-stage build, Unified single-container SPA hosting, Vercel &amp; Render production pipelines.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